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D43A-EEED-8B1C-EAD2-40C487DC0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5C993C-1F3A-C3DB-0134-21C641787A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7B80-590E-880D-8116-6E749E311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6558-7EEA-D723-E892-898039726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19186-90C5-50D3-B945-375156BF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3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04A9-AFA1-63CF-20DB-345EDC70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3EC01-0491-4A0C-9EB8-9391EF7FD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6A6F7-D24F-21CC-4033-98DAD185B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54DAD-F4BF-5ADC-8A4A-A654DAF4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EF21-3959-20A8-CBCA-74DEFDBA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7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6ECD-CD66-59C1-3509-E2136989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0298-D05B-8E98-ED29-26A09F65C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8B17B-5DC7-37DE-7900-20FB84D2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024EE-4443-6CBA-9401-2C9755B3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D8EAC-1E67-190E-24CA-A64CE778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2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A2E8-D7E1-508F-99E5-DD6E8EB7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AC6F2-3969-E75C-8060-AB3195749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8CC04-6FAD-EBCF-A1D5-2AB76CA53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A5666-6B09-17DE-CCFC-648AACE78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3E35B-BAC3-B727-BE96-1A5E24A2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C689F-7E7F-FFE1-374F-30EEC57C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1241-DEF7-76DC-4538-D31D3EC5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066D-D409-3DDE-BFCA-BC5233756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FAF2C-C0B1-21BD-E5E4-8256267CC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621F2-BDE9-57DC-CD78-3E10DBF8E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8185D-D6A1-EF70-69FA-470AFD302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81D54-AA5F-BADF-2094-2061C5B06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19C154-D56E-FC65-963D-1B9C847A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6CCC3-7CD8-BF73-310D-5BBF713C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686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5D5F-91F9-D75E-AB8E-E92DFB7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7EB91-7AF7-AC12-E4A2-0A30DDA54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311B9-B9D8-D446-D8FD-839E5E02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374EB-A901-83A2-59C4-6359B8DBE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2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795CEB-4DAD-C4EB-58D5-247605DB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F8D3-51D7-7E4D-E723-CD610039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FE1F2-A2A9-3493-2C9E-998540DA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12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D60C-6D0F-40C8-ABB4-4D110B27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6D26-76D2-61F9-B732-EE8362D06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FDCB4-1048-47E0-4CF5-0FA90B759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C595B-92AF-475A-26E2-6176A21FC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FBAA5-D100-A48A-E7B0-9415597B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F32C6-7149-500D-21E7-2E7D5EA8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214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341E-5894-F3BB-4E45-CA4D9C6D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71AB6-7C24-4E4A-6FC7-48BBA499D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7648D-F20A-29C6-EE75-9CD93107A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6E42B-55A1-D0D2-01C1-12A3E888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AA395-B6EC-CF1B-1840-5CEA1D18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B73A5-2C4A-0A0E-4203-74B9AEAE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1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EC18-8660-59E1-4707-9F23C3A0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6D27E-97B8-1180-B544-E544E04D1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E0FE8-D847-9B70-FB1B-CA32828B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77D1-9572-9D45-A598-581C28D3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C42-033F-217D-F548-B7932E1E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6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5E194-1EF3-20D2-31E5-15306C9FA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44FC-0193-F128-C993-30E8325D5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DCD49-06E6-7093-B265-D253946D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26102-1ACF-C7AE-A886-9E36C549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1E51-7C01-8949-3746-A24B22A4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28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9116F-8DD5-3E48-1744-2CE7994E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79A4C-D8A6-65BC-523D-CFAE6C06D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A2806-CE80-8C16-2823-C733A43DE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DAADE-4F2F-4B0C-87FC-6A9295EBD843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18D9-E2D5-8837-94AF-7547C42B0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843C-4FD4-15A4-D79C-9D1C6721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F7EDA-F709-486D-93DE-E466594E7D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36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0E78E-C3DD-0C8F-415B-1EDF51B6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900" y="1188637"/>
            <a:ext cx="4623363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🏷 Title:</a:t>
            </a:r>
            <a:br>
              <a:rPr lang="en-US" sz="3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Uber Trip Demand Forecasting Dashboard</a:t>
            </a:r>
            <a:br>
              <a:rPr lang="en-US" sz="31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Subtitle:</a:t>
            </a:r>
            <a:br>
              <a:rPr lang="en-US" sz="31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1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End-to-End Machine Learning Project</a:t>
            </a:r>
            <a:br>
              <a:rPr lang="en-US" sz="31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1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Deployed on Streamlit Cloud</a:t>
            </a:r>
            <a:br>
              <a:rPr lang="en-US" sz="31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endParaRPr lang="en-US" sz="3100" kern="120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1C6D9-53DF-B202-79D2-B121E88BF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7584" y="1896645"/>
            <a:ext cx="3953775" cy="30647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/>
              <a:t>Footer: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Jwel Aktar</a:t>
            </a:r>
            <a:br>
              <a:rPr lang="en-US"/>
            </a:br>
            <a:r>
              <a:rPr lang="en-US"/>
              <a:t>Data Science &amp; Machine Learning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37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567D7-2750-5AEC-AAC7-DC2CD9CE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Project Overview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BD320-70C7-A842-799F-018E398E7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IN" sz="1300" b="1"/>
              <a:t>Content:</a:t>
            </a:r>
          </a:p>
          <a:p>
            <a:r>
              <a:rPr lang="en-IN" sz="1300"/>
              <a:t>Built a time-series demand forecasting model for Uber dispatch bases</a:t>
            </a:r>
          </a:p>
          <a:p>
            <a:r>
              <a:rPr lang="en-IN" sz="1300"/>
              <a:t>Engineered operational and temporal features</a:t>
            </a:r>
          </a:p>
          <a:p>
            <a:r>
              <a:rPr lang="en-IN" sz="1300"/>
              <a:t>Validated using time-based split</a:t>
            </a:r>
          </a:p>
          <a:p>
            <a:r>
              <a:rPr lang="en-IN" sz="1300"/>
              <a:t>Deployed as a live web application</a:t>
            </a:r>
          </a:p>
          <a:p>
            <a:r>
              <a:rPr lang="en-IN" sz="1300"/>
              <a:t>Enabled real-time demand prediction</a:t>
            </a:r>
          </a:p>
          <a:p>
            <a:r>
              <a:rPr lang="en-IN" sz="1300" b="1"/>
              <a:t>Visual:</a:t>
            </a:r>
          </a:p>
          <a:p>
            <a:r>
              <a:rPr lang="en-IN" sz="1300"/>
              <a:t>Flow diagram:</a:t>
            </a:r>
            <a:br>
              <a:rPr lang="en-IN" sz="1300"/>
            </a:br>
            <a:r>
              <a:rPr lang="en-IN" sz="1300"/>
              <a:t>Data → Model → Web App → Cloud</a:t>
            </a:r>
          </a:p>
          <a:p>
            <a:endParaRPr lang="en-IN" sz="1300"/>
          </a:p>
        </p:txBody>
      </p:sp>
    </p:spTree>
    <p:extLst>
      <p:ext uri="{BB962C8B-B14F-4D97-AF65-F5344CB8AC3E}">
        <p14:creationId xmlns:p14="http://schemas.microsoft.com/office/powerpoint/2010/main" val="21117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57BC2-85E1-923D-1443-DB7BFAD8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Business Challenge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BEC0-9F8B-5DE2-CAAB-E639DABDC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US" sz="1500" b="1"/>
              <a:t>Content:</a:t>
            </a:r>
          </a:p>
          <a:p>
            <a:r>
              <a:rPr lang="en-US" sz="1500"/>
              <a:t>Daily trip demand fluctuates significantly</a:t>
            </a:r>
          </a:p>
          <a:p>
            <a:r>
              <a:rPr lang="en-US" sz="1500"/>
              <a:t>Inefficient fleet allocation leads to revenue loss</a:t>
            </a:r>
          </a:p>
          <a:p>
            <a:r>
              <a:rPr lang="en-US" sz="1500"/>
              <a:t>Over-supply causes idle vehicles</a:t>
            </a:r>
          </a:p>
          <a:p>
            <a:r>
              <a:rPr lang="en-US" sz="1500"/>
              <a:t>Under-supply causes missed demand</a:t>
            </a:r>
          </a:p>
          <a:p>
            <a:r>
              <a:rPr lang="en-US" sz="1500" b="1"/>
              <a:t>Key Question:</a:t>
            </a:r>
          </a:p>
          <a:p>
            <a:r>
              <a:rPr lang="en-US" sz="1500"/>
              <a:t>Can we forecast daily trip demand using historical data?</a:t>
            </a:r>
          </a:p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28813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0C4D5-6210-9397-D426-F64085A4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Project Objective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F2CBE-1C7F-1009-ACCF-CFA8ACDE1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US" sz="1700" b="1"/>
              <a:t>Content:</a:t>
            </a:r>
          </a:p>
          <a:p>
            <a:r>
              <a:rPr lang="en-US" sz="1700" b="1"/>
              <a:t>Primary Goal:</a:t>
            </a:r>
          </a:p>
          <a:p>
            <a:r>
              <a:rPr lang="en-US" sz="1700"/>
              <a:t>Predict daily Uber trip demand using historical operational data</a:t>
            </a:r>
          </a:p>
          <a:p>
            <a:r>
              <a:rPr lang="en-US" sz="1700"/>
              <a:t>Secondary Goals:</a:t>
            </a:r>
          </a:p>
          <a:p>
            <a:r>
              <a:rPr lang="en-US" sz="1700"/>
              <a:t>Capture weekly seasonality</a:t>
            </a:r>
          </a:p>
          <a:p>
            <a:r>
              <a:rPr lang="en-US" sz="1700"/>
              <a:t>Identify base-level performance differences</a:t>
            </a:r>
          </a:p>
          <a:p>
            <a:r>
              <a:rPr lang="en-US" sz="1700"/>
              <a:t>Deploy production-ready ML solution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347573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9C880-1B28-4C2D-50FE-A027CD29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sz="2500" b="1"/>
              <a:t>Title:</a:t>
            </a:r>
            <a:br>
              <a:rPr lang="en-IN" sz="2500" b="1"/>
            </a:br>
            <a:r>
              <a:rPr lang="en-IN" sz="2500"/>
              <a:t>Dataset Description</a:t>
            </a:r>
            <a:br>
              <a:rPr lang="en-IN" sz="2500"/>
            </a:br>
            <a:endParaRPr lang="en-IN" sz="25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EA6B1-C03B-FBE9-C01D-856973EF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/>
              <a:t>Content:</a:t>
            </a:r>
          </a:p>
          <a:p>
            <a:r>
              <a:rPr lang="en-US" sz="1800"/>
              <a:t>Time-series daily data (Jan–Feb)</a:t>
            </a:r>
          </a:p>
          <a:p>
            <a:r>
              <a:rPr lang="en-US" sz="1800"/>
              <a:t>Structured tabular format</a:t>
            </a:r>
          </a:p>
          <a:p>
            <a:r>
              <a:rPr lang="en-US" sz="1800"/>
              <a:t>Multiple dispatch bases</a:t>
            </a:r>
          </a:p>
          <a:p>
            <a:r>
              <a:rPr lang="en-US" sz="1800"/>
              <a:t>Aggregated operational metrics</a:t>
            </a:r>
          </a:p>
          <a:p>
            <a:pPr marL="0" indent="0">
              <a:buNone/>
            </a:pPr>
            <a:endParaRPr lang="en-IN" sz="1800"/>
          </a:p>
          <a:p>
            <a:pPr marL="0" indent="0">
              <a:buNone/>
            </a:pPr>
            <a:endParaRPr lang="en-IN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CFFF4F-C1D4-96D8-1FCA-8BC6B3EAD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099332"/>
              </p:ext>
            </p:extLst>
          </p:nvPr>
        </p:nvGraphicFramePr>
        <p:xfrm>
          <a:off x="5987738" y="1750941"/>
          <a:ext cx="5628019" cy="312324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886049">
                  <a:extLst>
                    <a:ext uri="{9D8B030D-6E8A-4147-A177-3AD203B41FA5}">
                      <a16:colId xmlns:a16="http://schemas.microsoft.com/office/drawing/2014/main" val="418862215"/>
                    </a:ext>
                  </a:extLst>
                </a:gridCol>
                <a:gridCol w="1471736">
                  <a:extLst>
                    <a:ext uri="{9D8B030D-6E8A-4147-A177-3AD203B41FA5}">
                      <a16:colId xmlns:a16="http://schemas.microsoft.com/office/drawing/2014/main" val="3575656046"/>
                    </a:ext>
                  </a:extLst>
                </a:gridCol>
                <a:gridCol w="1270234">
                  <a:extLst>
                    <a:ext uri="{9D8B030D-6E8A-4147-A177-3AD203B41FA5}">
                      <a16:colId xmlns:a16="http://schemas.microsoft.com/office/drawing/2014/main" val="1811876410"/>
                    </a:ext>
                  </a:extLst>
                </a:gridCol>
              </a:tblGrid>
              <a:tr h="522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Column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 marL="145060" marR="111584" marT="111584" marB="111584" anchor="ctr"/>
                </a:tc>
                <a:extLst>
                  <a:ext uri="{0D108BD9-81ED-4DB2-BD59-A6C34878D82A}">
                    <a16:rowId xmlns:a16="http://schemas.microsoft.com/office/drawing/2014/main" val="2940807408"/>
                  </a:ext>
                </a:extLst>
              </a:tr>
              <a:tr h="522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err="1">
                          <a:solidFill>
                            <a:schemeClr val="tx1"/>
                          </a:solidFill>
                        </a:rPr>
                        <a:t>dispatching_base_number</a:t>
                      </a:r>
                      <a:endParaRPr lang="en-IN" sz="17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Categorical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Grouping</a:t>
                      </a:r>
                    </a:p>
                  </a:txBody>
                  <a:tcPr marL="145060" marR="111584" marT="111584" marB="111584" anchor="ctr"/>
                </a:tc>
                <a:extLst>
                  <a:ext uri="{0D108BD9-81ED-4DB2-BD59-A6C34878D82A}">
                    <a16:rowId xmlns:a16="http://schemas.microsoft.com/office/drawing/2014/main" val="791259859"/>
                  </a:ext>
                </a:extLst>
              </a:tr>
              <a:tr h="77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Date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Time variable</a:t>
                      </a:r>
                    </a:p>
                  </a:txBody>
                  <a:tcPr marL="145060" marR="111584" marT="111584" marB="111584" anchor="ctr"/>
                </a:tc>
                <a:extLst>
                  <a:ext uri="{0D108BD9-81ED-4DB2-BD59-A6C34878D82A}">
                    <a16:rowId xmlns:a16="http://schemas.microsoft.com/office/drawing/2014/main" val="1253415909"/>
                  </a:ext>
                </a:extLst>
              </a:tr>
              <a:tr h="522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active_vehicles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Integer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Capacity</a:t>
                      </a:r>
                    </a:p>
                  </a:txBody>
                  <a:tcPr marL="145060" marR="111584" marT="111584" marB="111584" anchor="ctr"/>
                </a:tc>
                <a:extLst>
                  <a:ext uri="{0D108BD9-81ED-4DB2-BD59-A6C34878D82A}">
                    <a16:rowId xmlns:a16="http://schemas.microsoft.com/office/drawing/2014/main" val="19370830"/>
                  </a:ext>
                </a:extLst>
              </a:tr>
              <a:tr h="777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trips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Integer</a:t>
                      </a:r>
                    </a:p>
                  </a:txBody>
                  <a:tcPr marL="145060" marR="111584" marT="111584" marB="1115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</a:rPr>
                        <a:t>Target variable</a:t>
                      </a:r>
                    </a:p>
                  </a:txBody>
                  <a:tcPr marL="145060" marR="111584" marT="111584" marB="111584" anchor="ctr"/>
                </a:tc>
                <a:extLst>
                  <a:ext uri="{0D108BD9-81ED-4DB2-BD59-A6C34878D82A}">
                    <a16:rowId xmlns:a16="http://schemas.microsoft.com/office/drawing/2014/main" val="1448942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564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57861-F9A7-A6D1-1CE0-DD89EE1A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Data Cleaning &amp; Preparation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DB2C0-20DD-1541-6C48-AFFBC083D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200" b="1"/>
              <a:t>Content:</a:t>
            </a:r>
          </a:p>
          <a:p>
            <a:r>
              <a:rPr lang="en-US" sz="2200"/>
              <a:t>Converted date to datetime format</a:t>
            </a:r>
          </a:p>
          <a:p>
            <a:r>
              <a:rPr lang="en-US" sz="2200"/>
              <a:t>Extracted day_of_week and month</a:t>
            </a:r>
          </a:p>
          <a:p>
            <a:r>
              <a:rPr lang="en-US" sz="2200"/>
              <a:t>Created weekend indicator</a:t>
            </a:r>
          </a:p>
          <a:p>
            <a:r>
              <a:rPr lang="en-US" sz="2200"/>
              <a:t>Sorted data chronologically</a:t>
            </a:r>
          </a:p>
          <a:p>
            <a:r>
              <a:rPr lang="en-US" sz="2200"/>
              <a:t>Checked missing values</a:t>
            </a:r>
          </a:p>
          <a:p>
            <a:r>
              <a:rPr lang="en-US" sz="2200" b="1"/>
              <a:t>Visual:</a:t>
            </a:r>
          </a:p>
          <a:p>
            <a:r>
              <a:rPr lang="en-US" sz="2200"/>
              <a:t>Small preprocessing flow diagram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64767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573397-B365-D066-8FED-2A39C42F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Feature Engineering Strategy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83FAE-CE43-B36F-6B82-F85B4C055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800" b="1"/>
              <a:t>Content:</a:t>
            </a:r>
          </a:p>
          <a:p>
            <a:r>
              <a:rPr lang="en-US" sz="800"/>
              <a:t>Temporal Features:</a:t>
            </a:r>
          </a:p>
          <a:p>
            <a:r>
              <a:rPr lang="en-US" sz="800"/>
              <a:t>day_of_week</a:t>
            </a:r>
          </a:p>
          <a:p>
            <a:r>
              <a:rPr lang="en-US" sz="800"/>
              <a:t>month</a:t>
            </a:r>
          </a:p>
          <a:p>
            <a:r>
              <a:rPr lang="en-US" sz="800"/>
              <a:t>is_weekend</a:t>
            </a:r>
          </a:p>
          <a:p>
            <a:r>
              <a:rPr lang="en-US" sz="800"/>
              <a:t>Lag Features:</a:t>
            </a:r>
          </a:p>
          <a:p>
            <a:r>
              <a:rPr lang="en-US" sz="800"/>
              <a:t>lag_1 (previous day demand)</a:t>
            </a:r>
          </a:p>
          <a:p>
            <a:r>
              <a:rPr lang="en-US" sz="800"/>
              <a:t>lag_7 (previous week demand)</a:t>
            </a:r>
          </a:p>
          <a:p>
            <a:r>
              <a:rPr lang="en-US" sz="800"/>
              <a:t>Operational Feature:</a:t>
            </a:r>
          </a:p>
          <a:p>
            <a:r>
              <a:rPr lang="en-US" sz="800"/>
              <a:t>trips_per_vehicle</a:t>
            </a:r>
          </a:p>
          <a:p>
            <a:r>
              <a:rPr lang="en-US" sz="800"/>
              <a:t>Categorical Encoding:</a:t>
            </a:r>
          </a:p>
          <a:p>
            <a:r>
              <a:rPr lang="en-US" sz="800"/>
              <a:t>One-hot encoding for dispatch base</a:t>
            </a:r>
          </a:p>
          <a:p>
            <a:r>
              <a:rPr lang="en-US" sz="800" b="1"/>
              <a:t>Final Feature Count:</a:t>
            </a:r>
          </a:p>
          <a:p>
            <a:r>
              <a:rPr lang="en-US" sz="800"/>
              <a:t>12 engineered features</a:t>
            </a:r>
          </a:p>
          <a:p>
            <a:endParaRPr lang="en-IN" sz="800"/>
          </a:p>
        </p:txBody>
      </p:sp>
    </p:spTree>
    <p:extLst>
      <p:ext uri="{BB962C8B-B14F-4D97-AF65-F5344CB8AC3E}">
        <p14:creationId xmlns:p14="http://schemas.microsoft.com/office/powerpoint/2010/main" val="409958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9598BD-8548-A72D-62BA-D398DBF9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5600" b="1"/>
              <a:t>Title:</a:t>
            </a:r>
            <a:br>
              <a:rPr lang="en-IN" sz="5600" b="1"/>
            </a:br>
            <a:r>
              <a:rPr lang="en-IN" sz="5600"/>
              <a:t>Model Selection Strategy</a:t>
            </a:r>
            <a:br>
              <a:rPr lang="en-IN" sz="5600"/>
            </a:br>
            <a:endParaRPr lang="en-IN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DD03-7073-017C-1987-2C9FBC0A9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IN" sz="1900" b="1"/>
              <a:t>Content:</a:t>
            </a:r>
          </a:p>
          <a:p>
            <a:r>
              <a:rPr lang="en-IN" sz="1900"/>
              <a:t>Baseline Model:</a:t>
            </a:r>
          </a:p>
          <a:p>
            <a:r>
              <a:rPr lang="en-IN" sz="1900"/>
              <a:t>Linear Regression</a:t>
            </a:r>
          </a:p>
          <a:p>
            <a:r>
              <a:rPr lang="en-IN" sz="1900"/>
              <a:t>Final Model:</a:t>
            </a:r>
          </a:p>
          <a:p>
            <a:r>
              <a:rPr lang="en-IN" sz="1900"/>
              <a:t>Random Forest Regressor</a:t>
            </a:r>
          </a:p>
          <a:p>
            <a:r>
              <a:rPr lang="en-IN" sz="1900"/>
              <a:t>Reason:</a:t>
            </a:r>
          </a:p>
          <a:p>
            <a:r>
              <a:rPr lang="en-IN" sz="1900"/>
              <a:t>Handles nonlinear patterns</a:t>
            </a:r>
          </a:p>
          <a:p>
            <a:r>
              <a:rPr lang="en-IN" sz="1900"/>
              <a:t>Robust to outliers</a:t>
            </a:r>
          </a:p>
          <a:p>
            <a:r>
              <a:rPr lang="en-IN" sz="1900"/>
              <a:t>Better generalization</a:t>
            </a:r>
          </a:p>
          <a:p>
            <a:endParaRPr lang="en-IN" sz="1900"/>
          </a:p>
        </p:txBody>
      </p:sp>
    </p:spTree>
    <p:extLst>
      <p:ext uri="{BB962C8B-B14F-4D97-AF65-F5344CB8AC3E}">
        <p14:creationId xmlns:p14="http://schemas.microsoft.com/office/powerpoint/2010/main" val="2645044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50EB-5BB5-AFAC-C808-C30E2D4A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Model Validation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8FC90-2C2D-15C2-BA00-5D37894E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US" sz="1700" b="1"/>
              <a:t>Content:</a:t>
            </a:r>
          </a:p>
          <a:p>
            <a:r>
              <a:rPr lang="en-US" sz="1700"/>
              <a:t>Used time-based train-test split</a:t>
            </a:r>
          </a:p>
          <a:p>
            <a:r>
              <a:rPr lang="en-US" sz="1700"/>
              <a:t>Preserved chronological order</a:t>
            </a:r>
          </a:p>
          <a:p>
            <a:r>
              <a:rPr lang="en-US" sz="1700"/>
              <a:t>Prevented data leakage</a:t>
            </a:r>
          </a:p>
          <a:p>
            <a:r>
              <a:rPr lang="en-US" sz="1700"/>
              <a:t>Evaluation Metrics:</a:t>
            </a:r>
          </a:p>
          <a:p>
            <a:r>
              <a:rPr lang="en-US" sz="1700"/>
              <a:t>MAE</a:t>
            </a:r>
          </a:p>
          <a:p>
            <a:r>
              <a:rPr lang="en-US" sz="1700"/>
              <a:t>RMSE</a:t>
            </a:r>
          </a:p>
          <a:p>
            <a:r>
              <a:rPr lang="en-US" sz="1700"/>
              <a:t>R² Score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216716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3A729-7CC4-0DC6-F80A-AC07FB2D9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Model Results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B33F0-ADC7-4895-B3BB-B171926BB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IN" sz="1700" b="1"/>
              <a:t>Content:</a:t>
            </a:r>
          </a:p>
          <a:p>
            <a:r>
              <a:rPr lang="en-IN" sz="1700"/>
              <a:t>Random Forest outperformed Linear Regression</a:t>
            </a:r>
          </a:p>
          <a:p>
            <a:r>
              <a:rPr lang="en-IN" sz="1700"/>
              <a:t>Lower MAE and RMSE</a:t>
            </a:r>
          </a:p>
          <a:p>
            <a:r>
              <a:rPr lang="en-IN" sz="1700"/>
              <a:t>Better stability across time</a:t>
            </a:r>
          </a:p>
          <a:p>
            <a:r>
              <a:rPr lang="en-IN" sz="1700"/>
              <a:t>Final Model Selected:</a:t>
            </a:r>
            <a:br>
              <a:rPr lang="en-IN" sz="1700"/>
            </a:br>
            <a:r>
              <a:rPr lang="en-IN" sz="1700"/>
              <a:t>Random Forest Regressor</a:t>
            </a:r>
          </a:p>
          <a:p>
            <a:r>
              <a:rPr lang="en-IN" sz="1700" b="1"/>
              <a:t>Visual:</a:t>
            </a:r>
          </a:p>
          <a:p>
            <a:r>
              <a:rPr lang="en-IN" sz="1700"/>
              <a:t>Bar chart comparing MAE (LR vs RF)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586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02A84-BCAE-94A4-4442-D6E4BD35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Production Readiness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2A88E-A6ED-CC9D-7B4C-A13009064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Content:</a:t>
            </a:r>
          </a:p>
          <a:p>
            <a:r>
              <a:rPr lang="en-US" sz="2400"/>
              <a:t>Saved trained model as .pkl file</a:t>
            </a:r>
          </a:p>
          <a:p>
            <a:r>
              <a:rPr lang="en-US" sz="2400"/>
              <a:t>Used Pickle for serialization</a:t>
            </a:r>
          </a:p>
          <a:p>
            <a:r>
              <a:rPr lang="en-US" sz="2400"/>
              <a:t>Ensured reproducibility</a:t>
            </a:r>
          </a:p>
          <a:p>
            <a:r>
              <a:rPr lang="en-US" sz="2400"/>
              <a:t>Prepared for deployment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27414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861BFD-5AA3-DE6D-1EBF-34F0E943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Interactive ML Dashboard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6CEA0-3292-D177-570C-87A0526AE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Content:</a:t>
            </a:r>
          </a:p>
          <a:p>
            <a:r>
              <a:rPr lang="en-US" sz="2400"/>
              <a:t>Framework:</a:t>
            </a:r>
            <a:br>
              <a:rPr lang="en-US" sz="2400"/>
            </a:br>
            <a:r>
              <a:rPr lang="en-US" sz="2400"/>
              <a:t>Streamlit</a:t>
            </a:r>
          </a:p>
          <a:p>
            <a:r>
              <a:rPr lang="en-US" sz="2400"/>
              <a:t>Features:</a:t>
            </a:r>
          </a:p>
          <a:p>
            <a:r>
              <a:rPr lang="en-US" sz="2400"/>
              <a:t>Real-time prediction</a:t>
            </a:r>
          </a:p>
          <a:p>
            <a:r>
              <a:rPr lang="en-US" sz="2400"/>
              <a:t>Two-column layout</a:t>
            </a:r>
          </a:p>
          <a:p>
            <a:r>
              <a:rPr lang="en-US" sz="2400"/>
              <a:t>KPI metric display</a:t>
            </a:r>
          </a:p>
          <a:p>
            <a:r>
              <a:rPr lang="en-US" sz="2400"/>
              <a:t>Interactive visualization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88830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8C061-50F0-B930-EF05-04CD90A9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100" b="1"/>
              <a:t>Title:</a:t>
            </a:r>
            <a:br>
              <a:rPr lang="en-IN" sz="4100" b="1"/>
            </a:br>
            <a:r>
              <a:rPr lang="en-IN" sz="4100"/>
              <a:t>Deployment Workflow</a:t>
            </a:r>
            <a:br>
              <a:rPr lang="en-IN" sz="4100"/>
            </a:br>
            <a:endParaRPr lang="en-IN" sz="4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4334B3-95C0-E7AE-20FA-32A55AF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IN" sz="1700" b="1"/>
              <a:t>Content:</a:t>
            </a:r>
          </a:p>
          <a:p>
            <a:r>
              <a:rPr lang="en-IN" sz="1700"/>
              <a:t>Local Development</a:t>
            </a:r>
            <a:br>
              <a:rPr lang="en-IN" sz="1700"/>
            </a:br>
            <a:r>
              <a:rPr lang="en-IN" sz="1700"/>
              <a:t>↓</a:t>
            </a:r>
            <a:br>
              <a:rPr lang="en-IN" sz="1700"/>
            </a:br>
            <a:r>
              <a:rPr lang="en-IN" sz="1700"/>
              <a:t>Git Version Control</a:t>
            </a:r>
            <a:br>
              <a:rPr lang="en-IN" sz="1700"/>
            </a:br>
            <a:r>
              <a:rPr lang="en-IN" sz="1700"/>
              <a:t>↓</a:t>
            </a:r>
            <a:br>
              <a:rPr lang="en-IN" sz="1700"/>
            </a:br>
            <a:r>
              <a:rPr lang="en-IN" sz="1700"/>
              <a:t>GitHub Repository</a:t>
            </a:r>
            <a:br>
              <a:rPr lang="en-IN" sz="1700"/>
            </a:br>
            <a:r>
              <a:rPr lang="en-IN" sz="1700"/>
              <a:t>↓</a:t>
            </a:r>
            <a:br>
              <a:rPr lang="en-IN" sz="1700"/>
            </a:br>
            <a:r>
              <a:rPr lang="en-IN" sz="1700"/>
              <a:t>Streamlit Cloud Deployment</a:t>
            </a:r>
            <a:br>
              <a:rPr lang="en-IN" sz="1700"/>
            </a:br>
            <a:r>
              <a:rPr lang="en-IN" sz="1700"/>
              <a:t>↓</a:t>
            </a:r>
            <a:br>
              <a:rPr lang="en-IN" sz="1700"/>
            </a:br>
            <a:r>
              <a:rPr lang="en-IN" sz="1700"/>
              <a:t>Live Public Web App</a:t>
            </a:r>
          </a:p>
          <a:p>
            <a:r>
              <a:rPr lang="en-IN" sz="1700" b="1"/>
              <a:t>Visual:</a:t>
            </a:r>
          </a:p>
          <a:p>
            <a:r>
              <a:rPr lang="en-IN" sz="1700"/>
              <a:t>Architecture diagram (boxes + arrows)</a:t>
            </a:r>
          </a:p>
          <a:p>
            <a:endParaRPr lang="en-IN" sz="1700"/>
          </a:p>
        </p:txBody>
      </p:sp>
    </p:spTree>
    <p:extLst>
      <p:ext uri="{BB962C8B-B14F-4D97-AF65-F5344CB8AC3E}">
        <p14:creationId xmlns:p14="http://schemas.microsoft.com/office/powerpoint/2010/main" val="1148999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13A94C-C39F-889E-C7D5-91F3A634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Technical Challenges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7CD91-1F3D-8FCF-4136-9FB3C99C2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Content:</a:t>
            </a:r>
          </a:p>
          <a:p>
            <a:r>
              <a:rPr lang="en-US" sz="2400"/>
              <a:t>Feature mismatch errors</a:t>
            </a:r>
          </a:p>
          <a:p>
            <a:r>
              <a:rPr lang="en-US" sz="2400"/>
              <a:t>Git remote conflicts</a:t>
            </a:r>
          </a:p>
          <a:p>
            <a:r>
              <a:rPr lang="en-US" sz="2400"/>
              <a:t>Dependency issues</a:t>
            </a:r>
          </a:p>
          <a:p>
            <a:r>
              <a:rPr lang="en-US" sz="2400"/>
              <a:t>Model version compatibility warnings</a:t>
            </a:r>
          </a:p>
          <a:p>
            <a:r>
              <a:rPr lang="en-US" sz="2400"/>
              <a:t>One-hot encoding alignment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729638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A4668-859F-1540-C2D6-8F9A5235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5600" b="1"/>
              <a:t>Title:</a:t>
            </a:r>
            <a:br>
              <a:rPr lang="en-IN" sz="5600" b="1"/>
            </a:br>
            <a:r>
              <a:rPr lang="en-IN" sz="5600"/>
              <a:t>Problem-Solving Approach</a:t>
            </a:r>
            <a:br>
              <a:rPr lang="en-IN" sz="5600"/>
            </a:br>
            <a:endParaRPr lang="en-IN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F837D-760C-7156-868F-1BBC4A04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Content:</a:t>
            </a:r>
          </a:p>
          <a:p>
            <a:r>
              <a:rPr lang="en-US" sz="2400"/>
              <a:t>Matched feature order using DataFrame</a:t>
            </a:r>
          </a:p>
          <a:p>
            <a:r>
              <a:rPr lang="en-US" sz="2400"/>
              <a:t>Rebuilt Git repository cleanly</a:t>
            </a:r>
          </a:p>
          <a:p>
            <a:r>
              <a:rPr lang="en-US" sz="2400"/>
              <a:t>Updated requirements.txt</a:t>
            </a:r>
          </a:p>
          <a:p>
            <a:r>
              <a:rPr lang="en-US" sz="2400"/>
              <a:t>Corrected model serialization</a:t>
            </a:r>
          </a:p>
          <a:p>
            <a:r>
              <a:rPr lang="en-US" sz="2400"/>
              <a:t>Used force push for Git conflict resolution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85024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D5538-DF50-D5D9-18B5-42FD71C2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5600" b="1"/>
              <a:t>Title:</a:t>
            </a:r>
            <a:br>
              <a:rPr lang="en-IN" sz="5600" b="1"/>
            </a:br>
            <a:r>
              <a:rPr lang="en-IN" sz="5600"/>
              <a:t>Business Value Delivered</a:t>
            </a:r>
            <a:br>
              <a:rPr lang="en-IN" sz="5600"/>
            </a:br>
            <a:endParaRPr lang="en-IN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CAC5-0B3D-D272-BF67-94C546486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200" b="1"/>
              <a:t>Content:</a:t>
            </a:r>
          </a:p>
          <a:p>
            <a:r>
              <a:rPr lang="en-US" sz="2200"/>
              <a:t>Improved fleet allocation strategy</a:t>
            </a:r>
          </a:p>
          <a:p>
            <a:r>
              <a:rPr lang="en-US" sz="2200"/>
              <a:t>Reduced idle vehicle time</a:t>
            </a:r>
          </a:p>
          <a:p>
            <a:r>
              <a:rPr lang="en-US" sz="2200"/>
              <a:t>Enabled proactive demand planning</a:t>
            </a:r>
          </a:p>
          <a:p>
            <a:r>
              <a:rPr lang="en-US" sz="2200"/>
              <a:t>Data-driven operational decisions</a:t>
            </a:r>
          </a:p>
          <a:p>
            <a:r>
              <a:rPr lang="en-US" sz="2200"/>
              <a:t>Scalable forecasting solution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4150152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1D754-B793-A6D2-DC08-8ECCCCC4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Technology Stack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D6D2-067F-02F2-AE5A-BD379860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IN" sz="1500" b="1"/>
              <a:t>Content:</a:t>
            </a:r>
          </a:p>
          <a:p>
            <a:r>
              <a:rPr lang="en-IN" sz="1500"/>
              <a:t>Python</a:t>
            </a:r>
          </a:p>
          <a:p>
            <a:r>
              <a:rPr lang="en-IN" sz="1500"/>
              <a:t>Pandas</a:t>
            </a:r>
          </a:p>
          <a:p>
            <a:r>
              <a:rPr lang="en-IN" sz="1500"/>
              <a:t>NumPy</a:t>
            </a:r>
          </a:p>
          <a:p>
            <a:r>
              <a:rPr lang="en-IN" sz="1500"/>
              <a:t>Scikit-Learn</a:t>
            </a:r>
          </a:p>
          <a:p>
            <a:r>
              <a:rPr lang="en-IN" sz="1500"/>
              <a:t>Plotly</a:t>
            </a:r>
          </a:p>
          <a:p>
            <a:r>
              <a:rPr lang="en-IN" sz="1500"/>
              <a:t>Streamlit</a:t>
            </a:r>
          </a:p>
          <a:p>
            <a:r>
              <a:rPr lang="en-IN" sz="1500"/>
              <a:t>Git</a:t>
            </a:r>
          </a:p>
          <a:p>
            <a:r>
              <a:rPr lang="en-IN" sz="1500"/>
              <a:t>GitHub</a:t>
            </a:r>
          </a:p>
          <a:p>
            <a:r>
              <a:rPr lang="en-IN" sz="1500"/>
              <a:t>Streamlit Cloud</a:t>
            </a:r>
          </a:p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3715835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13352-A4A4-595F-C870-C837ECEE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5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5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5600">
                <a:solidFill>
                  <a:schemeClr val="tx1">
                    <a:lumMod val="75000"/>
                    <a:lumOff val="25000"/>
                  </a:schemeClr>
                </a:solidFill>
              </a:rPr>
              <a:t>Next-Level Enhancements</a:t>
            </a:r>
            <a:br>
              <a:rPr lang="en-IN" sz="5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5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01D82-262B-968F-BDBA-398A7D15F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US" sz="2200" b="1"/>
              <a:t>Content:</a:t>
            </a:r>
          </a:p>
          <a:p>
            <a:r>
              <a:rPr lang="en-US" sz="2200"/>
              <a:t>Integrate weather data</a:t>
            </a:r>
          </a:p>
          <a:p>
            <a:r>
              <a:rPr lang="en-US" sz="2200"/>
              <a:t>Add holiday/event indicators</a:t>
            </a:r>
          </a:p>
          <a:p>
            <a:r>
              <a:rPr lang="en-US" sz="2200"/>
              <a:t>Try XGBoost / LightGBM</a:t>
            </a:r>
          </a:p>
          <a:p>
            <a:r>
              <a:rPr lang="en-US" sz="2200"/>
              <a:t>Automate retraining pipeline</a:t>
            </a:r>
          </a:p>
          <a:p>
            <a:r>
              <a:rPr lang="en-US" sz="2200"/>
              <a:t>Add database integration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871028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B777DF-F6A2-4D53-B6F0-D9700609E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5" y="625059"/>
            <a:ext cx="5452525" cy="5607882"/>
          </a:xfrm>
          <a:prstGeom prst="rect">
            <a:avLst/>
          </a:pr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B3919-E7C5-7203-43C7-F06E4D7D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4623363" cy="4480726"/>
          </a:xfrm>
        </p:spPr>
        <p:txBody>
          <a:bodyPr>
            <a:normAutofit/>
          </a:bodyPr>
          <a:lstStyle/>
          <a:p>
            <a:pPr algn="r"/>
            <a: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  <a:t>Title:</a:t>
            </a:r>
            <a:br>
              <a:rPr lang="en-IN" sz="6600" b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  <a:t>End-to-End ML Lifecycle</a:t>
            </a:r>
            <a:br>
              <a:rPr lang="en-IN" sz="6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sz="6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D7A9B-BEB8-EB14-4011-47862D06B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7584" y="1896645"/>
            <a:ext cx="3953775" cy="3064712"/>
          </a:xfrm>
        </p:spPr>
        <p:txBody>
          <a:bodyPr anchor="ctr">
            <a:normAutofit/>
          </a:bodyPr>
          <a:lstStyle/>
          <a:p>
            <a:r>
              <a:rPr lang="en-IN" sz="2000" b="1"/>
              <a:t>Content:</a:t>
            </a:r>
          </a:p>
          <a:p>
            <a:r>
              <a:rPr lang="en-IN" sz="2000"/>
              <a:t>Data</a:t>
            </a:r>
            <a:br>
              <a:rPr lang="en-IN" sz="2000"/>
            </a:br>
            <a:r>
              <a:rPr lang="en-IN" sz="2000"/>
              <a:t>→ Feature Engineering</a:t>
            </a:r>
            <a:br>
              <a:rPr lang="en-IN" sz="2000"/>
            </a:br>
            <a:r>
              <a:rPr lang="en-IN" sz="2000"/>
              <a:t>→ Model Training</a:t>
            </a:r>
            <a:br>
              <a:rPr lang="en-IN" sz="2000"/>
            </a:br>
            <a:r>
              <a:rPr lang="en-IN" sz="2000"/>
              <a:t>→ Validation</a:t>
            </a:r>
            <a:br>
              <a:rPr lang="en-IN" sz="2000"/>
            </a:br>
            <a:r>
              <a:rPr lang="en-IN" sz="2000"/>
              <a:t>→ Model Saving</a:t>
            </a:r>
            <a:br>
              <a:rPr lang="en-IN" sz="2000"/>
            </a:br>
            <a:r>
              <a:rPr lang="en-IN" sz="2000"/>
              <a:t>→ Web App Development</a:t>
            </a:r>
            <a:br>
              <a:rPr lang="en-IN" sz="2000"/>
            </a:br>
            <a:r>
              <a:rPr lang="en-IN" sz="2000"/>
              <a:t>→ Git Version Control</a:t>
            </a:r>
            <a:br>
              <a:rPr lang="en-IN" sz="2000"/>
            </a:br>
            <a:r>
              <a:rPr lang="en-IN" sz="2000"/>
              <a:t>→ GitHub Integration</a:t>
            </a:r>
            <a:br>
              <a:rPr lang="en-IN" sz="2000"/>
            </a:br>
            <a:r>
              <a:rPr lang="en-IN" sz="2000"/>
              <a:t>→ Cloud Deployment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338754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22FF6-7F4C-308C-1604-D7EB4C85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Title:</a:t>
            </a:r>
            <a:br>
              <a:rPr lang="en-IN" sz="4600" b="1"/>
            </a:br>
            <a:r>
              <a:rPr lang="en-IN" sz="4600"/>
              <a:t>Project Conclusion</a:t>
            </a:r>
            <a:br>
              <a:rPr lang="en-IN" sz="4600"/>
            </a:br>
            <a:endParaRPr lang="en-IN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783BA-AE82-4867-EF9C-75AD0CB3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b="1"/>
              <a:t>Content:</a:t>
            </a:r>
          </a:p>
          <a:p>
            <a:r>
              <a:rPr lang="en-US" sz="2400"/>
              <a:t>Successfully built and deployed a production-ready demand forecasting system that transforms historical operational data into actionable business insights.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768087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D152-0050-96EB-3CF9-D564243C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518B-F194-1BFF-E1C7-2E1F0B31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6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689</Words>
  <Application>Microsoft Office PowerPoint</Application>
  <PresentationFormat>Widescreen</PresentationFormat>
  <Paragraphs>164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🏷 Title: Uber Trip Demand Forecasting Dashboard Subtitle: End-to-End Machine Learning Project Deployed on Streamlit Cloud </vt:lpstr>
      <vt:lpstr>Title: Project Overview </vt:lpstr>
      <vt:lpstr>Title: Business Challenge </vt:lpstr>
      <vt:lpstr>Title: Project Objective </vt:lpstr>
      <vt:lpstr>Title: Dataset Description </vt:lpstr>
      <vt:lpstr>Title: Data Cleaning &amp; Preparation </vt:lpstr>
      <vt:lpstr>Title: Feature Engineering Strategy </vt:lpstr>
      <vt:lpstr>Title: Model Selection Strategy </vt:lpstr>
      <vt:lpstr>Title: Model Validation </vt:lpstr>
      <vt:lpstr>Title: Model Results </vt:lpstr>
      <vt:lpstr>Title: Production Readiness </vt:lpstr>
      <vt:lpstr>Title: Interactive ML Dashboard </vt:lpstr>
      <vt:lpstr>Title: Deployment Workflow </vt:lpstr>
      <vt:lpstr>Title: Technical Challenges </vt:lpstr>
      <vt:lpstr>Title: Problem-Solving Approach </vt:lpstr>
      <vt:lpstr>Title: Business Value Delivered </vt:lpstr>
      <vt:lpstr>Title: Technology Stack </vt:lpstr>
      <vt:lpstr>Title: Next-Level Enhancements </vt:lpstr>
      <vt:lpstr>Title: End-to-End ML Lifecycle </vt:lpstr>
      <vt:lpstr>Title: Project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Jwel Aktar</dc:creator>
  <cp:lastModifiedBy>Jwel Aktar</cp:lastModifiedBy>
  <cp:revision>1</cp:revision>
  <dcterms:created xsi:type="dcterms:W3CDTF">2026-02-22T08:36:52Z</dcterms:created>
  <dcterms:modified xsi:type="dcterms:W3CDTF">2026-02-22T09:08:03Z</dcterms:modified>
</cp:coreProperties>
</file>